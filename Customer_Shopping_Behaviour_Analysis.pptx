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F9745"/>
            </a:solidFill>
            <a:ln>
              <a:solidFill>
                <a:srgbClr val="BF9745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2B27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974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ED-4C43-AE59-F7B0FC65B6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B97456"/>
            </a:solidFill>
            <a:ln>
              <a:solidFill>
                <a:srgbClr val="B97456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2B27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9745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AE4-4E63-B013-40471805C2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solidFill>
              <a:srgbClr val="839176"/>
            </a:solidFill>
            <a:ln>
              <a:solidFill>
                <a:srgbClr val="839176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2B27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83917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4D5-4A73-B45A-7116D1F9BF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amount</c:v>
                </c:pt>
              </c:strCache>
            </c:strRef>
          </c:tx>
          <c:spPr>
            <a:solidFill>
              <a:srgbClr val="4B6570"/>
            </a:solidFill>
            <a:ln>
              <a:solidFill>
                <a:srgbClr val="4B6570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2B27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Express</c:v>
                </c:pt>
                <c:pt idx="1">
                  <c:v>Standard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60.48</c:v>
                </c:pt>
                <c:pt idx="1">
                  <c:v>58.46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B657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7CE-4483-BECF-D0015F51E4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BF9745"/>
            </a:solidFill>
            <a:ln>
              <a:solidFill>
                <a:srgbClr val="BF9745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A2B27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F9745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517-4A93-95D9-D0EA895DE6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675E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18120" y="548640"/>
            <a:ext cx="3840480" cy="3840480"/>
          </a:xfrm>
          <a:prstGeom prst="ellipse">
            <a:avLst/>
          </a:prstGeom>
          <a:solidFill>
            <a:srgbClr val="F1E9D6"/>
          </a:solidFill>
          <a:ln>
            <a:solidFill>
              <a:srgbClr val="F1E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0" y="960120"/>
            <a:ext cx="3749039" cy="42976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09560" y="1234440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SHOPPER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572768"/>
            <a:ext cx="28346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2B27"/>
                </a:solidFill>
                <a:latin typeface="Georgia"/>
              </a:rPr>
              <a:t>Purchase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121408"/>
            <a:ext cx="914400" cy="868680"/>
          </a:xfrm>
          <a:prstGeom prst="roundRect">
            <a:avLst/>
          </a:prstGeom>
          <a:solidFill>
            <a:srgbClr val="F8F5ED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46136" y="2276856"/>
            <a:ext cx="841248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2B27"/>
                </a:solidFill>
                <a:latin typeface="Aptos"/>
              </a:rPr>
              <a:t>3,900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6136" y="2596896"/>
            <a:ext cx="8412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9675E"/>
                </a:solidFill>
                <a:latin typeface="Aptos"/>
              </a:rPr>
              <a:t>purchases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2121408"/>
            <a:ext cx="914400" cy="868680"/>
          </a:xfrm>
          <a:prstGeom prst="roundRect">
            <a:avLst/>
          </a:prstGeom>
          <a:solidFill>
            <a:srgbClr val="F8F5ED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70263" y="2276856"/>
            <a:ext cx="841248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2B27"/>
                </a:solidFill>
                <a:latin typeface="Aptos"/>
              </a:rPr>
              <a:t>$59.76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0263" y="2596896"/>
            <a:ext cx="8412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9675E"/>
                </a:solidFill>
                <a:latin typeface="Aptos"/>
              </a:rPr>
              <a:t>avg.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57816" y="2121408"/>
            <a:ext cx="914400" cy="868680"/>
          </a:xfrm>
          <a:prstGeom prst="roundRect">
            <a:avLst/>
          </a:prstGeom>
          <a:solidFill>
            <a:srgbClr val="F8F5ED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94392" y="2276856"/>
            <a:ext cx="841248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2B27"/>
                </a:solidFill>
                <a:latin typeface="Aptos"/>
              </a:rPr>
              <a:t>3.75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4392" y="2596896"/>
            <a:ext cx="8412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 i="0">
                <a:solidFill>
                  <a:srgbClr val="69675E"/>
                </a:solidFill>
                <a:latin typeface="Aptos"/>
              </a:rPr>
              <a:t>avg.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3273552"/>
            <a:ext cx="23774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9675E"/>
                </a:solidFill>
                <a:latin typeface="Aptos"/>
              </a:rPr>
              <a:t>Revenue by gender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657600"/>
            <a:ext cx="640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Male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3666744"/>
            <a:ext cx="2331720" cy="164592"/>
          </a:xfrm>
          <a:prstGeom prst="round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4160520"/>
            <a:ext cx="6400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Female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169663"/>
            <a:ext cx="1115568" cy="164592"/>
          </a:xfrm>
          <a:prstGeom prst="roundRect">
            <a:avLst/>
          </a:prstGeom>
          <a:solidFill>
            <a:srgbClr val="839176"/>
          </a:solidFill>
          <a:ln>
            <a:solidFill>
              <a:srgbClr val="83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36992" y="4663440"/>
            <a:ext cx="301752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9675E"/>
                </a:solidFill>
                <a:latin typeface="Aptos"/>
              </a:rPr>
              <a:t>A visual story of spending, preferences &amp; loyalty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713232"/>
            <a:ext cx="41148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DATA ANALYTICS  /  PORTFOLIO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1298448"/>
            <a:ext cx="6675120" cy="1691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 i="0">
                <a:solidFill>
                  <a:srgbClr val="2A2B27"/>
                </a:solidFill>
                <a:latin typeface="Georgia"/>
              </a:rPr>
              <a:t>Customer Shopping
Behaviour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246120"/>
            <a:ext cx="713232" cy="54864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58521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9675E"/>
                </a:solidFill>
                <a:latin typeface="Aptos"/>
              </a:rPr>
              <a:t>Uncovering patterns across 3,900 purchases to support smarter business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4709160"/>
            <a:ext cx="2331720" cy="292608"/>
          </a:xfrm>
          <a:prstGeom prst="roundRect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750308"/>
            <a:ext cx="2221991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A2B27"/>
                </a:solidFill>
                <a:latin typeface="Aptos"/>
              </a:rPr>
              <a:t>PYTHON  ·  SQL  ·  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230368"/>
            <a:ext cx="580644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2B27"/>
                </a:solidFill>
                <a:latin typeface="Aptos"/>
              </a:rPr>
              <a:t>A concise exploration of customer behaviour, product performance and subscription patterns.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01 /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A snapshot of the shopping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A broad transactional view combines customer profiles, purchases and shopping preferences.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02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606040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359152"/>
            <a:ext cx="21945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F9745"/>
                </a:solidFill>
                <a:latin typeface="Georgia"/>
              </a:rPr>
              <a:t>3,900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62072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purchase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82112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9675E"/>
                </a:solidFill>
                <a:latin typeface="Aptos"/>
              </a:rPr>
              <a:t>A substantial sample of transactions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148840"/>
            <a:ext cx="2606040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359152"/>
            <a:ext cx="21945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F9745"/>
                </a:solidFill>
                <a:latin typeface="Georgia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862072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data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82112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9675E"/>
                </a:solidFill>
                <a:latin typeface="Aptos"/>
              </a:rPr>
              <a:t>Demographics, purchase details &amp;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148840"/>
            <a:ext cx="2606040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359152"/>
            <a:ext cx="21945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97456"/>
                </a:solidFill>
                <a:latin typeface="Georgia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862072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missing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182112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9675E"/>
                </a:solidFill>
                <a:latin typeface="Aptos"/>
              </a:rPr>
              <a:t>All found in the review_rating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2016" y="2148840"/>
            <a:ext cx="2606040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73184" y="2359152"/>
            <a:ext cx="21945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F9745"/>
                </a:solidFill>
                <a:latin typeface="Georgia"/>
              </a:rPr>
              <a:t>$59.76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2862072"/>
            <a:ext cx="2194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average 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3182112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9675E"/>
                </a:solidFill>
                <a:latin typeface="Aptos"/>
              </a:rPr>
              <a:t>Mean purchase amount in the source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6629400" cy="20574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142232"/>
            <a:ext cx="36576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WHAT THE DATA CAPTURES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4507992"/>
            <a:ext cx="438912" cy="438912"/>
          </a:xfrm>
          <a:prstGeom prst="ellipse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544568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535424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A2B27"/>
                </a:solidFill>
                <a:latin typeface="Aptos"/>
              </a:rPr>
              <a:t>CUSTOMER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535424"/>
            <a:ext cx="3886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Age · gender · location · subscription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" y="4937759"/>
            <a:ext cx="438912" cy="438912"/>
          </a:xfrm>
          <a:prstGeom prst="ellipse">
            <a:avLst/>
          </a:prstGeom>
          <a:solidFill>
            <a:srgbClr val="DFE7DA"/>
          </a:solidFill>
          <a:ln>
            <a:solidFill>
              <a:srgbClr val="DF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4974336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965192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A2B27"/>
                </a:solidFill>
                <a:latin typeface="Aptos"/>
              </a:rPr>
              <a:t>PURCHASE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965192"/>
            <a:ext cx="3886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Item · category · amount · season · size · colour</a:t>
            </a:r>
          </a:p>
        </p:txBody>
      </p:sp>
      <p:sp>
        <p:nvSpPr>
          <p:cNvPr id="33" name="Oval 32"/>
          <p:cNvSpPr/>
          <p:nvPr/>
        </p:nvSpPr>
        <p:spPr>
          <a:xfrm>
            <a:off x="932688" y="5367528"/>
            <a:ext cx="438912" cy="438912"/>
          </a:xfrm>
          <a:prstGeom prst="ellipse">
            <a:avLst/>
          </a:prstGeom>
          <a:solidFill>
            <a:srgbClr val="ECDCD2"/>
          </a:solidFill>
          <a:ln>
            <a:solidFill>
              <a:srgbClr val="E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404104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394960"/>
            <a:ext cx="1645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A2B27"/>
                </a:solidFill>
                <a:latin typeface="Aptos"/>
              </a:rPr>
              <a:t>SHOPPING BEHAVIOUR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5394960"/>
            <a:ext cx="3886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Discounts · past purchases · frequency · ratings · shipping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3886200"/>
            <a:ext cx="3840480" cy="2057400"/>
          </a:xfrm>
          <a:prstGeom prst="roundRect">
            <a:avLst/>
          </a:prstGeom>
          <a:solidFill>
            <a:srgbClr val="F4ECDB"/>
          </a:solidFill>
          <a:ln w="10160">
            <a:solidFill>
              <a:srgbClr val="E6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79" y="4224528"/>
            <a:ext cx="32004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A2B27"/>
                </a:solidFill>
                <a:latin typeface="Georgia"/>
              </a:rPr>
              <a:t>A useful starting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663440"/>
            <a:ext cx="2971800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675E"/>
                </a:solidFill>
                <a:latin typeface="Aptos"/>
              </a:rPr>
              <a:t>The dataset supports comparisons across customer types, product categories and purchase choices.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5559552"/>
            <a:ext cx="3017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675E"/>
                </a:solidFill>
                <a:latin typeface="Aptos"/>
              </a:rPr>
              <a:t>Data source: project report; descriptive statistics.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02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From raw records to analysis-ready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Python handled preparation; the cleaned DataFrame was then loaded into a database for SQL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03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76272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2377440"/>
            <a:ext cx="438912" cy="438912"/>
          </a:xfrm>
          <a:prstGeom prst="ellipse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14016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89504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Import dataset with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63824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Bring the transaction file into Python.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76272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27448" y="2377440"/>
            <a:ext cx="438912" cy="438912"/>
          </a:xfrm>
          <a:prstGeom prst="ellipse">
            <a:avLst/>
          </a:prstGeom>
          <a:solidFill>
            <a:srgbClr val="DFE7DA"/>
          </a:solidFill>
          <a:ln>
            <a:solidFill>
              <a:srgbClr val="DF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2414016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0487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889504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df.info() + .describe()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163824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Review structure and summary statistics.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76272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22208" y="2377440"/>
            <a:ext cx="438912" cy="438912"/>
          </a:xfrm>
          <a:prstGeom prst="ellipse">
            <a:avLst/>
          </a:prstGeom>
          <a:solidFill>
            <a:srgbClr val="ECDCD2"/>
          </a:solidFill>
          <a:ln>
            <a:solidFill>
              <a:srgbClr val="E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2414016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404872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IMPUTE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889504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Fill 37 missing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163824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Use the median rating within each product category.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41063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142231"/>
            <a:ext cx="438912" cy="438912"/>
          </a:xfrm>
          <a:prstGeom prst="ellipse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178807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169663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STANDARDISE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654296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Rename to snake_case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4928616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Create age_group and purchase_frequency_days.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3941063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27448" y="4142231"/>
            <a:ext cx="438912" cy="438912"/>
          </a:xfrm>
          <a:prstGeom prst="ellipse">
            <a:avLst/>
          </a:prstGeom>
          <a:solidFill>
            <a:srgbClr val="DFE7DA"/>
          </a:solidFill>
          <a:ln>
            <a:solidFill>
              <a:srgbClr val="DF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4178807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169663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4654296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Check redundant fields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4928616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Compare discount_applied and promo_code_used; drop promo_code_used.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941063"/>
            <a:ext cx="3401568" cy="1417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522208" y="4142231"/>
            <a:ext cx="438912" cy="438912"/>
          </a:xfrm>
          <a:prstGeom prst="ellipse">
            <a:avLst/>
          </a:prstGeom>
          <a:solidFill>
            <a:srgbClr val="ECDCD2"/>
          </a:solidFill>
          <a:ln>
            <a:solidFill>
              <a:srgbClr val="E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8" y="4178807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169663"/>
            <a:ext cx="2240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CONNECT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4654296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Load into database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4928616"/>
            <a:ext cx="29260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 i="0">
                <a:solidFill>
                  <a:srgbClr val="69675E"/>
                </a:solidFill>
                <a:latin typeface="Aptos"/>
              </a:rPr>
              <a:t>Move the cleaned DataFrame to MySQL Workbench for SQL analysis.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5897880"/>
            <a:ext cx="10698480" cy="384048"/>
          </a:xfrm>
          <a:prstGeom prst="roundRect">
            <a:avLst/>
          </a:prstGeom>
          <a:solidFill>
            <a:srgbClr val="EDE7D9"/>
          </a:solidFill>
          <a:ln>
            <a:solidFill>
              <a:srgbClr val="ED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2688" y="5989320"/>
            <a:ext cx="10287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PANDAS  →  CLEANING &amp; FEATURE ENGINEERING  →  DATABASE  →  SQL BUSINESS QUESTIONS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03 /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Male customers account for the larger revenue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Revenue totals from the SQL analysis; amounts are shown in the report’s recorded currency (USD purchase field).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04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6583680" cy="36118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487168"/>
          <a:ext cx="5897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2148840"/>
            <a:ext cx="3794760" cy="1554480"/>
          </a:xfrm>
          <a:prstGeom prst="roundRect">
            <a:avLst/>
          </a:prstGeom>
          <a:solidFill>
            <a:srgbClr val="F4ECDB"/>
          </a:solidFill>
          <a:ln w="10160">
            <a:solidFill>
              <a:srgbClr val="E6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2450592"/>
            <a:ext cx="3017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2A2B27"/>
                </a:solidFill>
                <a:latin typeface="Georgia"/>
              </a:rPr>
              <a:t>$157,890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3026664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Male customer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913632"/>
            <a:ext cx="3794760" cy="15544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4215384"/>
            <a:ext cx="3017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4B6570"/>
                </a:solidFill>
                <a:latin typeface="Georgia"/>
              </a:rPr>
              <a:t>$75,191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791456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Female customer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669280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Readout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623560"/>
            <a:ext cx="29718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A2B27"/>
                </a:solidFill>
                <a:latin typeface="Aptos"/>
              </a:rPr>
              <a:t>The male revenue total is about 2.1× the female total in this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04 / PRODUCT &amp;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Discounts do not only appear on low-value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The SQL work identified above-average spenders who used discounts, alongside products with high discount 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05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5074920" cy="36118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423160"/>
            <a:ext cx="43891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MOST DISCOUNT-DEPENDENT PRODUCTS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788920"/>
          <a:ext cx="4526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413248"/>
            <a:ext cx="19202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675E"/>
                </a:solidFill>
                <a:latin typeface="Aptos"/>
              </a:rPr>
              <a:t>Discount rate (%)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148840"/>
            <a:ext cx="5349240" cy="36118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2423160"/>
            <a:ext cx="43891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TOP-RATED PRODUCTS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0" y="2788920"/>
          <a:ext cx="47091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5413248"/>
            <a:ext cx="21945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675E"/>
                </a:solidFill>
                <a:latin typeface="Aptos"/>
              </a:rPr>
              <a:t>Average product rating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925312"/>
            <a:ext cx="10652760" cy="365760"/>
          </a:xfrm>
          <a:prstGeom prst="roundRect">
            <a:avLst/>
          </a:prstGeom>
          <a:solidFill>
            <a:srgbClr val="EDE7D9"/>
          </a:solidFill>
          <a:ln>
            <a:solidFill>
              <a:srgbClr val="ED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6007608"/>
            <a:ext cx="102412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Business question: where are discounts most common—and which products earn the strongest ratings?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05 / PURCHASE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Shipping averages are close; subscription revenue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Two comparisons from the report reveal different stories about order value and customer contribution.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06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5120640" cy="36118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423160"/>
            <a:ext cx="4297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AVERAGE PURCHASE AMOUNT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60120" y="2788920"/>
          <a:ext cx="4526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24128" y="5321808"/>
            <a:ext cx="4297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2B27"/>
                </a:solidFill>
                <a:latin typeface="Georgia"/>
              </a:rPr>
              <a:t>Express is $2.02 higher on average.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48840"/>
            <a:ext cx="5303520" cy="36118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4480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SUBSCRIBERS VS NON-SUBSCRIBERS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880360"/>
            <a:ext cx="14630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337560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Subscribers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355848"/>
            <a:ext cx="960120" cy="201168"/>
          </a:xfrm>
          <a:prstGeom prst="round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3319272"/>
            <a:ext cx="12801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2B27"/>
                </a:solidFill>
                <a:latin typeface="Aptos"/>
              </a:rPr>
              <a:t>$62,645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913632"/>
            <a:ext cx="1143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Non-subscribers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931920"/>
            <a:ext cx="2606040" cy="201168"/>
          </a:xfrm>
          <a:prstGeom prst="roundRect">
            <a:avLst/>
          </a:prstGeom>
          <a:solidFill>
            <a:srgbClr val="4B6570"/>
          </a:solidFill>
          <a:ln>
            <a:solidFill>
              <a:srgbClr val="4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87000" y="3886200"/>
            <a:ext cx="960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A2B27"/>
                </a:solidFill>
                <a:latin typeface="Aptos"/>
              </a:rPr>
              <a:t>$170,436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4434840"/>
            <a:ext cx="4480560" cy="10972"/>
          </a:xfrm>
          <a:prstGeom prst="rect">
            <a:avLst/>
          </a:prstGeom>
          <a:solidFill>
            <a:srgbClr val="E0DACC"/>
          </a:solidFill>
          <a:ln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4681728"/>
            <a:ext cx="1920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F9745"/>
                </a:solidFill>
                <a:latin typeface="Georgia"/>
              </a:rPr>
              <a:t>1,053 subscribers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681728"/>
            <a:ext cx="23774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B6570"/>
                </a:solidFill>
                <a:latin typeface="Georgia"/>
              </a:rPr>
              <a:t>2,847 non-subscribers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212080"/>
            <a:ext cx="45262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Average spend: $59.49 (subscribers) vs $59.87 (non-subscribers).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06 / CUSTOMER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Most customers fall into the loyal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Segments are taken from the report’s purchase-history classification: Loyal, Returning and New.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07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669280" cy="37947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CUSTOMER SEGMENTS</a:t>
            </a:r>
          </a:p>
        </p:txBody>
      </p:sp>
      <p:sp>
        <p:nvSpPr>
          <p:cNvPr id="9" name="Trapezoid 8"/>
          <p:cNvSpPr/>
          <p:nvPr/>
        </p:nvSpPr>
        <p:spPr>
          <a:xfrm>
            <a:off x="1965960" y="2907792"/>
            <a:ext cx="3246120" cy="786384"/>
          </a:xfrm>
          <a:prstGeom prst="trapezoid">
            <a:avLst/>
          </a:prstGeom>
          <a:solidFill>
            <a:srgbClr val="DECC9F"/>
          </a:solidFill>
          <a:ln>
            <a:solidFill>
              <a:srgbClr val="DE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rapezoid 9"/>
          <p:cNvSpPr/>
          <p:nvPr/>
        </p:nvSpPr>
        <p:spPr>
          <a:xfrm>
            <a:off x="1536192" y="3730752"/>
            <a:ext cx="4114800" cy="868680"/>
          </a:xfrm>
          <a:prstGeom prst="trapezoid">
            <a:avLst/>
          </a:prstGeom>
          <a:solidFill>
            <a:srgbClr val="C0CAB8"/>
          </a:solidFill>
          <a:ln>
            <a:solidFill>
              <a:srgbClr val="C0C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rapezoid 10"/>
          <p:cNvSpPr/>
          <p:nvPr/>
        </p:nvSpPr>
        <p:spPr>
          <a:xfrm>
            <a:off x="1097280" y="4645152"/>
            <a:ext cx="4983480" cy="868680"/>
          </a:xfrm>
          <a:prstGeom prst="trapezoid">
            <a:avLst/>
          </a:prstGeom>
          <a:solidFill>
            <a:srgbClr val="C69D82"/>
          </a:solidFill>
          <a:ln>
            <a:solidFill>
              <a:srgbClr val="C69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3172968"/>
            <a:ext cx="21488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NEW  ·  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41648"/>
            <a:ext cx="288036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A2B27"/>
                </a:solidFill>
                <a:latin typeface="Aptos"/>
              </a:rPr>
              <a:t>RETURNING  ·  701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965192"/>
            <a:ext cx="34747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A2B27"/>
                </a:solidFill>
                <a:latin typeface="Aptos"/>
              </a:rPr>
              <a:t>LOYAL  ·  3,116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148840"/>
            <a:ext cx="4617720" cy="1024128"/>
          </a:xfrm>
          <a:prstGeom prst="roundRect">
            <a:avLst/>
          </a:prstGeom>
          <a:solidFill>
            <a:srgbClr val="F4ECDB"/>
          </a:solidFill>
          <a:ln w="10160">
            <a:solidFill>
              <a:srgbClr val="E6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2359152"/>
            <a:ext cx="123444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2A2B27"/>
                </a:solidFill>
                <a:latin typeface="Georgia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04872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2B27"/>
                </a:solidFill>
                <a:latin typeface="Aptos"/>
              </a:rPr>
              <a:t>of customers are in the loyal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401568"/>
            <a:ext cx="4617720" cy="10241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3611880"/>
            <a:ext cx="123444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839176"/>
                </a:solidFill>
                <a:latin typeface="Georgia"/>
              </a:rPr>
              <a:t>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57600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2B27"/>
                </a:solidFill>
                <a:latin typeface="Aptos"/>
              </a:rPr>
              <a:t>are classified as returning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654296"/>
            <a:ext cx="4617720" cy="10241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4864608"/>
            <a:ext cx="123444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B97456"/>
                </a:solidFill>
                <a:latin typeface="Georgia"/>
              </a:rPr>
              <a:t>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910328"/>
            <a:ext cx="25603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2B27"/>
                </a:solidFill>
                <a:latin typeface="Aptos"/>
              </a:rPr>
              <a:t>are classified as new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5879592"/>
            <a:ext cx="44348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675E"/>
                </a:solidFill>
                <a:latin typeface="Aptos"/>
              </a:rPr>
              <a:t>Counts sum to 3,900 customers; percentages rounded.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07 /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Revenue is distributed across four age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Young adults contribute the highest total revenue in the age-group comparison, with relatively close totals across groups.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08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6675120" cy="3657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514600"/>
          <a:ext cx="60807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2148840"/>
            <a:ext cx="3657600" cy="1143000"/>
          </a:xfrm>
          <a:prstGeom prst="roundRect">
            <a:avLst/>
          </a:prstGeom>
          <a:solidFill>
            <a:srgbClr val="F4ECDB"/>
          </a:solidFill>
          <a:ln w="10160">
            <a:solidFill>
              <a:srgbClr val="E6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359152"/>
            <a:ext cx="29260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2A2B27"/>
                </a:solidFill>
                <a:latin typeface="Georgia"/>
              </a:rPr>
              <a:t>$62,143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52928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675E"/>
                </a:solidFill>
                <a:latin typeface="Aptos"/>
              </a:rPr>
              <a:t>Young adult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566160"/>
            <a:ext cx="3657600" cy="11430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3776472"/>
            <a:ext cx="29260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 i="0">
                <a:solidFill>
                  <a:srgbClr val="4B6570"/>
                </a:solidFill>
                <a:latin typeface="Georgia"/>
              </a:rPr>
              <a:t>$55,763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70248"/>
            <a:ext cx="2834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9675E"/>
                </a:solidFill>
                <a:latin typeface="Aptos"/>
              </a:rPr>
              <a:t>Senior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074920"/>
            <a:ext cx="3017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F9745"/>
                </a:solidFill>
                <a:latin typeface="Aptos"/>
              </a:rPr>
              <a:t>Marketing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394960"/>
            <a:ext cx="3063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A2B27"/>
                </a:solidFill>
                <a:latin typeface="Aptos"/>
              </a:rPr>
              <a:t>Use age-group insights to tailor campaigns, while avoiding over-reliance on one segment.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08 / PRODUCT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Category leaders provide clear campaign anchors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The report’s SQL output lists the three most-purchased products within each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09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57800" cy="157276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73152" cy="157276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350008"/>
            <a:ext cx="23774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ACCESSORIES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15768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Jewelry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738628"/>
            <a:ext cx="2423160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423160" y="2738628"/>
            <a:ext cx="2423160" cy="118872"/>
          </a:xfrm>
          <a:prstGeom prst="round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702052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9232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Sunglasses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022092"/>
            <a:ext cx="2281454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23160" y="3022092"/>
            <a:ext cx="2281454" cy="118872"/>
          </a:xfrm>
          <a:prstGeom prst="round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2985516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82696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Belt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305556"/>
            <a:ext cx="2281454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423160" y="3305556"/>
            <a:ext cx="2281454" cy="118872"/>
          </a:xfrm>
          <a:prstGeom prst="round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3268980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148840"/>
            <a:ext cx="5257800" cy="157276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148840"/>
            <a:ext cx="73152" cy="1572768"/>
          </a:xfrm>
          <a:prstGeom prst="rect">
            <a:avLst/>
          </a:prstGeom>
          <a:solidFill>
            <a:srgbClr val="839176"/>
          </a:solidFill>
          <a:ln>
            <a:solidFill>
              <a:srgbClr val="83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350008"/>
            <a:ext cx="23774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39176"/>
                </a:solidFill>
                <a:latin typeface="Aptos"/>
              </a:rPr>
              <a:t>CLOTHING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715768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Blouse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738628"/>
            <a:ext cx="2423160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0" y="2738628"/>
            <a:ext cx="2423160" cy="118872"/>
          </a:xfrm>
          <a:prstGeom prst="roundRect">
            <a:avLst/>
          </a:prstGeom>
          <a:solidFill>
            <a:srgbClr val="839176"/>
          </a:solidFill>
          <a:ln>
            <a:solidFill>
              <a:srgbClr val="83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52760" y="2702052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99232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Pants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022092"/>
            <a:ext cx="2423160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46720" y="3022092"/>
            <a:ext cx="2423160" cy="118872"/>
          </a:xfrm>
          <a:prstGeom prst="roundRect">
            <a:avLst/>
          </a:prstGeom>
          <a:solidFill>
            <a:srgbClr val="839176"/>
          </a:solidFill>
          <a:ln>
            <a:solidFill>
              <a:srgbClr val="83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2985516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282696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Shirt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305556"/>
            <a:ext cx="2394818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46720" y="3305556"/>
            <a:ext cx="2394818" cy="118872"/>
          </a:xfrm>
          <a:prstGeom prst="roundRect">
            <a:avLst/>
          </a:prstGeom>
          <a:solidFill>
            <a:srgbClr val="839176"/>
          </a:solidFill>
          <a:ln>
            <a:solidFill>
              <a:srgbClr val="839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52760" y="3268980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977639"/>
            <a:ext cx="5257800" cy="157276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3977639"/>
            <a:ext cx="73152" cy="1572768"/>
          </a:xfrm>
          <a:prstGeom prst="rect">
            <a:avLst/>
          </a:prstGeom>
          <a:solidFill>
            <a:srgbClr val="4B6570"/>
          </a:solidFill>
          <a:ln>
            <a:solidFill>
              <a:srgbClr val="4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4178807"/>
            <a:ext cx="23774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B6570"/>
                </a:solidFill>
                <a:latin typeface="Aptos"/>
              </a:rPr>
              <a:t>FOOTWEAR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544568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Sandals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23160" y="4567428"/>
            <a:ext cx="2423160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423160" y="4567428"/>
            <a:ext cx="2423160" cy="118872"/>
          </a:xfrm>
          <a:prstGeom prst="roundRect">
            <a:avLst/>
          </a:prstGeom>
          <a:solidFill>
            <a:srgbClr val="4B6570"/>
          </a:solidFill>
          <a:ln>
            <a:solidFill>
              <a:srgbClr val="4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0" y="4530852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28031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Shoes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23160" y="4850892"/>
            <a:ext cx="2271712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423160" y="4850892"/>
            <a:ext cx="2271712" cy="118872"/>
          </a:xfrm>
          <a:prstGeom prst="roundRect">
            <a:avLst/>
          </a:prstGeom>
          <a:solidFill>
            <a:srgbClr val="4B6570"/>
          </a:solidFill>
          <a:ln>
            <a:solidFill>
              <a:srgbClr val="4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4814316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111496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Sneakers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23160" y="5134356"/>
            <a:ext cx="2195988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423160" y="5134356"/>
            <a:ext cx="2195988" cy="118872"/>
          </a:xfrm>
          <a:prstGeom prst="roundRect">
            <a:avLst/>
          </a:prstGeom>
          <a:solidFill>
            <a:srgbClr val="4B6570"/>
          </a:solidFill>
          <a:ln>
            <a:solidFill>
              <a:srgbClr val="4B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0" y="5097780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145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3977639"/>
            <a:ext cx="5257800" cy="157276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55080" y="3977639"/>
            <a:ext cx="73152" cy="1572768"/>
          </a:xfrm>
          <a:prstGeom prst="rect">
            <a:avLst/>
          </a:prstGeom>
          <a:solidFill>
            <a:srgbClr val="B97456"/>
          </a:solidFill>
          <a:ln>
            <a:solidFill>
              <a:srgbClr val="B97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11112" y="4178807"/>
            <a:ext cx="23774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97456"/>
                </a:solidFill>
                <a:latin typeface="Aptos"/>
              </a:rPr>
              <a:t>OUTERWEAR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544568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Jacket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567428"/>
            <a:ext cx="2423160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046720" y="4567428"/>
            <a:ext cx="2423160" cy="118872"/>
          </a:xfrm>
          <a:prstGeom prst="roundRect">
            <a:avLst/>
          </a:prstGeom>
          <a:solidFill>
            <a:srgbClr val="B97456"/>
          </a:solidFill>
          <a:ln>
            <a:solidFill>
              <a:srgbClr val="B97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52760" y="4530852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4828031"/>
            <a:ext cx="1325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2B27"/>
                </a:solidFill>
                <a:latin typeface="Aptos"/>
              </a:rPr>
              <a:t>Coat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4850892"/>
            <a:ext cx="2393427" cy="118872"/>
          </a:xfrm>
          <a:prstGeom prst="roundRect">
            <a:avLst/>
          </a:prstGeom>
          <a:solidFill>
            <a:srgbClr val="E8E2D3"/>
          </a:solidFill>
          <a:ln>
            <a:solidFill>
              <a:srgbClr val="E8E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046720" y="4850892"/>
            <a:ext cx="2393427" cy="118872"/>
          </a:xfrm>
          <a:prstGeom prst="roundRect">
            <a:avLst/>
          </a:prstGeom>
          <a:solidFill>
            <a:srgbClr val="B97456"/>
          </a:solidFill>
          <a:ln>
            <a:solidFill>
              <a:srgbClr val="B97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52760" y="4814316"/>
            <a:ext cx="5029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161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6080760"/>
            <a:ext cx="41148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675E"/>
                </a:solidFill>
                <a:latin typeface="Aptos"/>
              </a:rPr>
              <a:t>Orders shown as reported in the SQL result.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ANALYTICS PORTFOLIO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09 / WHAT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2A2B27"/>
                </a:solidFill>
                <a:latin typeface="Georgia"/>
              </a:rPr>
              <a:t>Turn analysis into practical business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3716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675E"/>
                </a:solidFill>
                <a:latin typeface="Aptos"/>
              </a:rPr>
              <a:t>Recommendations are grounded in the project report’s findings and stated business priorities.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475488" cy="41148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61320" y="402336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9675E"/>
                </a:solidFill>
                <a:latin typeface="Aptos"/>
              </a:rPr>
              <a:t>10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03120"/>
            <a:ext cx="7315200" cy="5669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2167127"/>
            <a:ext cx="438912" cy="438912"/>
          </a:xfrm>
          <a:prstGeom prst="ellipse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203703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85415"/>
            <a:ext cx="21488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Grow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85415"/>
            <a:ext cx="4023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Test exclusive subscriber benefits and measure sign-up conversion.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816352"/>
            <a:ext cx="7315200" cy="5669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688" y="2880360"/>
            <a:ext cx="438912" cy="438912"/>
          </a:xfrm>
          <a:prstGeom prst="ellipse">
            <a:avLst/>
          </a:prstGeom>
          <a:solidFill>
            <a:srgbClr val="DFE7DA"/>
          </a:solidFill>
          <a:ln>
            <a:solidFill>
              <a:srgbClr val="DF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916936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898648"/>
            <a:ext cx="21488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Reward repeat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98648"/>
            <a:ext cx="4023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Use loyalty offers to retain returning buyers and encourage repeat purchases.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29584"/>
            <a:ext cx="7315200" cy="5669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" y="3593591"/>
            <a:ext cx="438912" cy="438912"/>
          </a:xfrm>
          <a:prstGeom prst="ellipse">
            <a:avLst/>
          </a:prstGeom>
          <a:solidFill>
            <a:srgbClr val="ECDCD2"/>
          </a:solidFill>
          <a:ln>
            <a:solidFill>
              <a:srgbClr val="E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630168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611879"/>
            <a:ext cx="21488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Review discount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11879"/>
            <a:ext cx="4023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Monitor discount-heavy products alongside revenue and margin outcomes.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42816"/>
            <a:ext cx="7315200" cy="5669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" y="4306824"/>
            <a:ext cx="438912" cy="438912"/>
          </a:xfrm>
          <a:prstGeom prst="ellipse">
            <a:avLst/>
          </a:prstGeom>
          <a:solidFill>
            <a:srgbClr val="EBDCB8"/>
          </a:solidFill>
          <a:ln>
            <a:solidFill>
              <a:srgbClr val="EBD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343400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325112"/>
            <a:ext cx="21488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Promote proven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25112"/>
            <a:ext cx="4023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Feature top-rated items and category best-sellers in campaigns.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956048"/>
            <a:ext cx="7315200" cy="5669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0D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32688" y="5020056"/>
            <a:ext cx="438912" cy="438912"/>
          </a:xfrm>
          <a:prstGeom prst="ellipse">
            <a:avLst/>
          </a:prstGeom>
          <a:solidFill>
            <a:srgbClr val="DFE7DA"/>
          </a:solidFill>
          <a:ln>
            <a:solidFill>
              <a:srgbClr val="DFE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" y="5056632"/>
            <a:ext cx="438912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A2B27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038344"/>
            <a:ext cx="21488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2B27"/>
                </a:solidFill>
                <a:latin typeface="Aptos"/>
              </a:rPr>
              <a:t>Target with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038344"/>
            <a:ext cx="40233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675E"/>
                </a:solidFill>
                <a:latin typeface="Aptos"/>
              </a:rPr>
              <a:t>Tailor marketing to age-group revenue patterns and shipping preferences.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103120"/>
            <a:ext cx="3063240" cy="3886200"/>
          </a:xfrm>
          <a:prstGeom prst="roundRect">
            <a:avLst/>
          </a:prstGeom>
          <a:solidFill>
            <a:srgbClr val="F4ECDB"/>
          </a:solidFill>
          <a:ln w="10160">
            <a:solidFill>
              <a:srgbClr val="E6D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05088" y="2423160"/>
            <a:ext cx="2286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F9745"/>
                </a:solidFill>
                <a:latin typeface="Aptos"/>
              </a:rPr>
              <a:t>THE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852928"/>
            <a:ext cx="2423160" cy="1737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2A2B27"/>
                </a:solidFill>
                <a:latin typeface="Georgia"/>
              </a:rPr>
              <a:t>Understand
customers.
Reward loyalty.
Spend smarter.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05088" y="4892040"/>
            <a:ext cx="548640" cy="45720"/>
          </a:xfrm>
          <a:prstGeom prst="rect">
            <a:avLst/>
          </a:prstGeom>
          <a:solidFill>
            <a:srgbClr val="BF9745"/>
          </a:solidFill>
          <a:ln>
            <a:solidFill>
              <a:srgbClr val="BF9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05088" y="516636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9675E"/>
                </a:solidFill>
                <a:latin typeface="Aptos"/>
              </a:rPr>
              <a:t>Python → SQL → Power BI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532120"/>
            <a:ext cx="2240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A2B27"/>
                </a:solidFill>
                <a:latin typeface="Aptos"/>
              </a:rPr>
              <a:t>A portfolio-ready example of translating transactional data into decisions.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6565392"/>
            <a:ext cx="73152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69675E"/>
                </a:solidFill>
                <a:latin typeface="Aptos"/>
              </a:rPr>
              <a:t>CUSTOMER SHOPPING BEHAVIOUR  •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911</Words>
  <Application>Microsoft Office PowerPoint</Application>
  <PresentationFormat>Widescreen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Data Analytics portfolio presentation</dc:subject>
  <dc:creator>OpenAI</dc:creator>
  <cp:keywords>customer behaviour, SQL, Python, Power BI, analytics</cp:keywords>
  <dc:description>generated using python-pptx</dc:description>
  <cp:lastModifiedBy>Disha Kshirsagar</cp:lastModifiedBy>
  <cp:revision>1</cp:revision>
  <dcterms:created xsi:type="dcterms:W3CDTF">2013-01-27T09:14:16Z</dcterms:created>
  <dcterms:modified xsi:type="dcterms:W3CDTF">2026-10-15T16:50:43Z</dcterms:modified>
  <cp:category/>
</cp:coreProperties>
</file>